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Recovery Efficiency (%)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4785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Membrane</c:v>
                  </c:pt>
                  <c:pt idx="1">
                    <c:v>PSA (Adsorption)</c:v>
                  </c:pt>
                  <c:pt idx="2">
                    <c:v>Absorption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95.8</c:v>
                </c:pt>
                <c:pt idx="1">
                  <c:v>98.5</c:v>
                </c:pt>
                <c:pt idx="2">
                  <c:v>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 (× $1000)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4785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Membrane</c:v>
                  </c:pt>
                  <c:pt idx="1">
                    <c:v>PSA (Adsorption)</c:v>
                  </c:pt>
                  <c:pt idx="2">
                    <c:v>Absorption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778</c:v>
                </c:pt>
                <c:pt idx="1">
                  <c:v>73</c:v>
                </c:pt>
                <c:pt idx="2">
                  <c:v>105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D4ED8">
              <a:alpha val="45000"/>
            </a:srgbClr>
          </a:solidFill>
          <a:ln w="12700">
            <a:solidFill>
              <a:srgbClr val="1D4ED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HCRecov — Monomer Recovery Assessment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Purge Stream  |  PP Plant  |  Hazira Manufacturing Division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Industries Ltd., Hazira Manufacturing Division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— Batch 2026  ·  June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HCRecov  ·  Run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Industries Ltd., Hazira Manufacturing Division  ·  Summer Internship — Batch 2026  ·  Slide 1 / 10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Feed Conditions  |  HCRecov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86600" y="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Industries Ltd., Hazira Manufacturing Division  ·  Summer Internship — Batch 2026  ·  Slide 2 /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Scope &amp; Boundary Conditions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29768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34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Scope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40233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First-principles assessment of three hydrocarbon recovery technologies for a 650 kg/hr purge stream at 1.20 bar(a) and 64 °C (5 mol% C3H6).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17043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E3A8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2618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650 kg/hr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Flow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40880" y="117043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E3A8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2618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1.20 bar(a)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40880" y="18288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235915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E3A8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4505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°C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37760" y="30175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235915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E3A8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24505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mol%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40880" y="30175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 (C3H6)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5844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Assessed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9136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Hollow-Fiber Polymeric Membrane Skid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0" y="39136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Twin-Bed Pressure Swing Adsorption (PSA)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35040" y="39136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Heavy Hydrocarbon Gas Absorption Loop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Efficiency 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86600" y="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Industries Ltd., Hazira Manufacturing Division  ·  Summer Internship — Batch 2026  ·  Slide 3 /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Monomer Recovery Efficiency by Technology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Feed: 1.20 bar(a)  ·  64 °C  ·  5 mol% C3H6  ·  Target ≥ 90%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371600"/>
          <a:ext cx="7315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2532888"/>
            <a:ext cx="7040880" cy="0"/>
          </a:xfrm>
          <a:prstGeom prst="line">
            <a:avLst/>
          </a:prstGeom>
          <a:noFill/>
          <a:ln w="22860">
            <a:solidFill>
              <a:srgbClr val="EF4444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7543800" y="24231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Target 90%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Expenditure (CAPEX) 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86600" y="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Industries Ltd., Hazira Manufacturing Division  ·  Summer Internship — Batch 2026  ·  Slide 4 /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Installed CAPEX by Technology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Catalog Equipment  ·  2026 Cost Index  (USD × 1 000)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371600"/>
          <a:ext cx="7315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726680" y="15087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Membrane CAPEX includes K-301 feed gas booster</a:t>
            </a:r>
            <a:endParaRPr lang="en-US" sz="750" dirty="0"/>
          </a:p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(1.2 → 16.2 bar)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Hollow-Fiber Polymeric Membrane Skid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86600" y="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Industries Ltd., Hazira Manufacturing Division  ·  Summer Internship — Batch 2026  ·  Slide 5 /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Membrane Skid — Component Breakdown</a:t>
            </a:r>
            <a:endParaRPr lang="en-US" sz="1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1508760"/>
                <a:gridCol w="1508760"/>
                <a:gridCol w="777240"/>
                <a:gridCol w="777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Capacity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Capacity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OPEX/hr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K-301 Feed Gas Booster Compressor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619 Screw Machine / 110.0 kW Motor Enclosure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126.5 kW thermal limit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 kW compression 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$172,000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M-301 Polyimide Membrane Separator Skids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ASME Rated Bank housing 14 Standard Elements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560.0 m2 active area barrier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537.6 m2 selective flux interface (log-mean ΔP = 0.241 bar)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$605,700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$25.49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$777,700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$34.29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2359152"/>
            <a:ext cx="8412480" cy="2350008"/>
          </a:xfrm>
          <a:prstGeom prst="roundRect">
            <a:avLst>
              <a:gd name="adj" fmla="val 311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2432304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Recovery Efficiency: 95.8%   ·   Total Package CAPEX: $777,700   ·   Total OPEX: $34.29/hr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2770632"/>
            <a:ext cx="813816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K-301: Isentropic Pressure Ratio: 13.5:1  |  p_discharge = 16.2 bar  (from process_parameters.json)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M-301: Calculated Permeate Matrix Gas Recovery: 95.8%  |  OPEX breakdown: replacement + auxiliaries = $25.49/hr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Twin-Bed Cyclic Pressure Swing Adsorption Skid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86600" y="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Industries Ltd., Hazira Manufacturing Division  ·  Summer Internship — Batch 2026  ·  Slide 6 /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PSA Skid — Component Breakdown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1508760"/>
                <a:gridCol w="1508760"/>
                <a:gridCol w="777240"/>
                <a:gridCol w="777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Capacity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Capacity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OPEX/hr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Y-201 Duplex Guard Cartridge Element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ASME Housing / 0.5 Micron Particulate Strainer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740.3 m3/hr hydraulic ceiling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528.8 m3/hr actual volumetric flow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V-201 A/B Twin Swing Adsorber Steel Shells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ASME Section VIII / ANSI 150# Rating Vessel Frame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230.7 kg standard loading frame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142.6 kg required sieve mass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$54,400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$72,900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2359152"/>
            <a:ext cx="8412480" cy="2350008"/>
          </a:xfrm>
          <a:prstGeom prst="roundRect">
            <a:avLst>
              <a:gd name="adj" fmla="val 311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2432304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Recovery Efficiency: 98.5%   ·   Total Package CAPEX: $72,900   ·   Total OPEX: $3.95/hr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2770632"/>
            <a:ext cx="813816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Y-201: 99.95% Resin Fines Separation Guard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V-201: Langmuir Pore Vapor Equilibrium Affinity: 98.5%  |  Cycle: 10 min total / feed step 40% (4.0 min)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Hydrocarbon Gas Absorption Recirculation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86600" y="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Industries Ltd., Hazira Manufacturing Division  ·  Summer Internship — Batch 2026  ·  Slide 7 /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Absorption Loop — Component Breakdown</a:t>
            </a:r>
            <a:endParaRPr lang="en-US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1508760"/>
                <a:gridCol w="1508760"/>
                <a:gridCol w="777240"/>
                <a:gridCol w="777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Capacity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Capacity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OPEX/hr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E-101 Feed Gas Cooler (Shell &amp; Tube)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 R / ANSI 150# — CW Duty Gas Cooler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 m2 surface (25% margin envelope)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 m2 required transfer surface  |  Duty: 5.7 kW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T-101 Absorber Tower Packed Shell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ASME Section VIII / ANSI 150# Low Press Casing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1142.2 kg/hr hydraulic ceiling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650.0 kg/hr @ 35 °C (post E-101)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$76,800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$9.57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P-101 A/B Solvent Circulation Pumps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610 Centrifugal / Standard 7.5 kW Frame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 GPM impeller cut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 GPM solvent circulation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$9,400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$8.92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$105,400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2651760"/>
            <a:ext cx="841248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27249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Recovery Efficiency: 98.0%   ·   Total Package CAPEX: $105,400   ·   Total OPEX: $18.49/hr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306324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E-101: Cooling duty: 64.0 °C → 35.0 °C  |  d-T_lm = 10.5 K  |  NOTE: E-101 is a missing upstream unit — without it the absorber operates at feed temperature (64 °C), raising Henry's constant and requiring ~65× L/G to compensate.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T-101: Thermodynamic Recovery Yield: 98.0%  |  Absorption Factor A = 1.50  |  L/G (mass) = 2.7  |  C_design = 0.0770 m/s  (Mellapak 250Y @ 72% flood)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P-101: Solvent Recirculation Loop Containment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Comparison Matrix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86600" y="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Industries Ltd., Hazira Manufacturing Division  ·  Summer Internship — Batch 2026  ·  Slide 8 /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Multi-Criteria Technology Comparison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566160"/>
        </p:xfrm>
        <a:graphic>
          <a:graphicData uri="http://schemas.openxmlformats.org/drawingml/2006/table">
            <a:tbl>
              <a:tblPr/>
              <a:tblGrid>
                <a:gridCol w="2560320"/>
                <a:gridCol w="1920240"/>
                <a:gridCol w="192024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Membrane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Absorption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Efficiency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(USD 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$777.7k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$72.9k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$105.4k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Meets 90%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Engineering Recommendation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86600" y="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Industries Ltd., Hazira Manufacturing Division  ·  Summer Internship — Batch 2026  ·  Slide 9 /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307592"/>
            <a:ext cx="411480" cy="41148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3075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152144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Polymeric Membrane achieves 95.8% recovery — meets target; CAPEX $777.7k.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331720"/>
            <a:ext cx="411480" cy="4114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176272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Swing Adsorption achieves 98.5% recovery — meets target; CAPEX $72.9k.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27248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3355848"/>
            <a:ext cx="411480" cy="4114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20040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Gas Absorption achieves 98.0% recovery — meets target; CAPEX $105.4k.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13308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3308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·  Pressure Swing Adsorption is the primary recommendation, meeting the recovery target at the lowest CAPEX ($72.9k). Polymeric Membrane, Heavy Gas Absorption also meet the target and remain viable alternatives.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7315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Feed: 650 kg/hr  ·  1.2 bar(a)  ·  64 °C  ·  5 mol% C3H6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Membrane: 95.8% recovery  |  CAPEX $777.7k  ·  Meets target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PSA: 98.5% recovery  |  CAPEX $72.9k  ·  Meets target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Absorption: 98.0% recovery  |  CAPEX $105.4k  ·  Meets target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Recommendation: Pressure Swing Adsorption  (lowest CAPEX among options meeting target)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2026-06-30T02:44:13  ·  HCRecov Run 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HCRecov — Monomer Recovery Assessment</dc:title>
  <dc:subject>Hydrocarbon Recovery Technology Assessment</dc:subject>
  <dc:creator>Summer Internship — Batch 2026</dc:creator>
  <cp:lastModifiedBy>Summer Internship — Batch 2026</cp:lastModifiedBy>
  <cp:revision>1</cp:revision>
  <dcterms:created xsi:type="dcterms:W3CDTF">2026-06-30T02:44:13Z</dcterms:created>
  <dcterms:modified xsi:type="dcterms:W3CDTF">2026-06-30T02:44:13Z</dcterms:modified>
</cp:coreProperties>
</file>