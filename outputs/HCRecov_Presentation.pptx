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Recovery Efficiency (%)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84-4858-ADE9-02C8F24AB87E}"/>
              </c:ext>
            </c:extLst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84-4858-ADE9-02C8F24AB87E}"/>
              </c:ext>
            </c:extLst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84-4858-ADE9-02C8F24AB8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Membrane</c:v>
                </c:pt>
                <c:pt idx="1">
                  <c:v>PSA (Adsorption)</c:v>
                </c:pt>
                <c:pt idx="2">
                  <c:v>Absorption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78.5</c:v>
                </c:pt>
                <c:pt idx="1">
                  <c:v>76.2</c:v>
                </c:pt>
                <c:pt idx="2">
                  <c:v>72.8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84-4858-ADE9-02C8F24AB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 (× ₹1000)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55-422D-849F-3CB387C38DE5}"/>
              </c:ext>
            </c:extLst>
          </c:dPt>
          <c:dPt>
            <c:idx val="1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55-422D-849F-3CB387C38DE5}"/>
              </c:ext>
            </c:extLst>
          </c:dPt>
          <c:dPt>
            <c:idx val="2"/>
            <c:invertIfNegative val="0"/>
            <c:bubble3D val="0"/>
            <c:spPr>
              <a:solidFill>
                <a:srgbClr val="0478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55-422D-849F-3CB387C38D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Membrane</c:v>
                </c:pt>
                <c:pt idx="1">
                  <c:v>PSA (Adsorption)</c:v>
                </c:pt>
                <c:pt idx="2">
                  <c:v>Absorption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137775</c:v>
                </c:pt>
                <c:pt idx="1">
                  <c:v>118570</c:v>
                </c:pt>
                <c:pt idx="2">
                  <c:v>93520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55-422D-849F-3CB387C38D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60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D4ED8">
              <a:alpha val="45000"/>
            </a:srgbClr>
          </a:solidFill>
          <a:ln w="1270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HCRecov Industrial Sizing Ledger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Stream Analysis — Basis: 650.0 kg/hr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Engineering Team  ·  June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HCRecov  ·  1.0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1 / 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Feed Conditions  |  HCRecov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2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Scope &amp; Boundary Conditions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29768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72768"/>
            <a:ext cx="4023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Unit-Level First-Principles Assessment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17043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261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650 kg/hr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040880" y="117043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2618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 bar(a)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18288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35915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450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°C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017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040880" y="2359152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E3A8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245059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mol%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3017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(C3H6)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584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Assessed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Hollow-Fiber Polymeric Membrane Skid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Twin-Bed Pressure Swing Adsorption (PSA)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35040" y="39136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Heavy Hydrocarbon Gas Absorption Loop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Efficiency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3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Monomer Recovery Efficiency by Technology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1.20 bar(a)  ·  64 °C  ·  5 mol% C3H6  ·  Target ≥ 90%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371600"/>
          <a:ext cx="7315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2532888"/>
            <a:ext cx="7040880" cy="0"/>
          </a:xfrm>
          <a:prstGeom prst="line">
            <a:avLst/>
          </a:prstGeom>
          <a:noFill/>
          <a:ln w="22860">
            <a:solidFill>
              <a:srgbClr val="EF4444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543800" y="24231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Target 90%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(CAPEX)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4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Installed CAPEX by Technology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Catalog Equipment  ·  2026 Cost Index  (INR × 1 000)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371600"/>
          <a:ext cx="7315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7726680" y="150876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Membrane CAPEX includes K-301 feed gas booster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(1.2 → 16.2 bar)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Polymeric Membrane Separation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5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Membrane Skid — Component Breakdown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648760"/>
              </p:ext>
            </p:extLst>
          </p:nvPr>
        </p:nvGraphicFramePr>
        <p:xfrm>
          <a:off x="365760" y="1051560"/>
          <a:ext cx="848360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50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0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93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Suction Knock-Out Drum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Sec VIII Div 1, Vert Shell (600mm x 2.0m)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740.3 Am3/hr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528.8 Am3/hr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 bar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₹4,62,000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₹6.47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Gas Booster Compressor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619 Oil-Injected Screw Process Package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110.0 kW Motor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67.4 kW Shaft Work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-15.0 bar (Pressurize)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₹5,94,000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₹7.96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Coalescing Pre-Filter Element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Micron High-Pressure Particulate Shell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 Am3/hr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 Am3/hr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 bar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₹7,26,000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₹9.44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Polyimide Membrane Separator Skids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Multi-Tube Module Housing (14 Elements)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560.0 m2 Bank Barrier Matrix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537.6 m2 Active Area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Retentate: 604.4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Permeate: 45.6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15.00 bar (Trans-membrane)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₹8,58,000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₹10.91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₹16,50,000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944368"/>
            <a:ext cx="8412480" cy="1764792"/>
          </a:xfrm>
          <a:prstGeom prst="roundRect">
            <a:avLst>
              <a:gd name="adj" fmla="val 41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0175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78.5%   ·   Total Package CAPEX: ₹16,50,000   ·   Total OPEX: ₹18.50/hr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355848"/>
            <a:ext cx="8138160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Estimated recovery contribution 78.5% with Feed Suction Knock-Out Drum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Estimated recovery contribution 78.5% with Feed Gas Booster Compressor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Coalescing: Estimated recovery contribution 78.5% with Coalescing Pre-Filter Element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Polyimide: Estimated recovery contribution 78.5% with Polyimide Membrane Separator Skids sized for the stated duty.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Pressure-Swing Adsorption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6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PSA Skid — Component Breakdown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074063"/>
              </p:ext>
            </p:extLst>
          </p:nvPr>
        </p:nvGraphicFramePr>
        <p:xfrm>
          <a:off x="365760" y="1051560"/>
          <a:ext cx="8285871" cy="1463040"/>
        </p:xfrm>
        <a:graphic>
          <a:graphicData uri="http://schemas.openxmlformats.org/drawingml/2006/table">
            <a:tbl>
              <a:tblPr/>
              <a:tblGrid>
                <a:gridCol w="103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2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33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1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Duplex Guard Particulate Strainer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Y-Pattern Stainless Mesh Core Housing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740.3 Am3/hr structural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528.8 Am3/hr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 bar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₹3,97,600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 Cycle Feed Gas Compressor*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619 Heavy Duty Double-Helix Screw Machine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160.0 kW Motor Enclosure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84.2 kW Gas Energy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-23.8 bar (Pressurize)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₹5,11,200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Adsorber Beds (Interlocked)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ASME VIII Carbon Sieve / Zeolite Dual Bed System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230.7 kg Vessel Volume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142.6 kg Sieve Loaded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 cyclical dynamic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 bar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₹6,24,800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₹8.57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651760"/>
            <a:ext cx="84124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7249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76.2%   ·   Total Package CAPEX: ₹14,20,000   ·   Total OPEX: ₹16.80/hr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Duplex: Estimated recovery contribution 76.2% with Duplex Guard Particulate Strainer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PSA: Estimated recovery contribution 76.2% with PSA Cycle Feed Gas Compressor*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Twin: Estimated recovery contribution 76.2% with Twin Adsorber Beds (Interlocked) sized for the stated duty.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Heavy-Gas Absorption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7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47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Absorption Loop — Component Breakdown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9006840" cy="16306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OPEX/hr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&amp; Tube Feed Pre-Cooler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R-Type Shell, Duty: 5.7 kW Thermal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 m2 Design Geometry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 m2 Exchange Surface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 Process Gas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bar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₹3,13,600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₹4.97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Absorber Packed Column Tower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Mellapak 250Y Structured Column Configuration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1142.2 kg/hr Hydraulic flood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650.0 kg/hr gas throughput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Gas: 650.0 kg/hr | Liq: 1786.9 kg/hr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bar (6.0 mbar/m packing)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₹4,03,200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₹6.11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Lean/Rich Solvent Circulation Pumps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610 Centrifugal Single Stage Motor Package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 GPM Pump Curve Limit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 GPM Impeller Push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1833.6 kg/hr fluid loop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-1.50 bar (Dynamic System Head)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₹4,92,800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₹11,20,000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1E3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2651760"/>
            <a:ext cx="8412480" cy="2057400"/>
          </a:xfrm>
          <a:prstGeom prst="roundRect">
            <a:avLst>
              <a:gd name="adj" fmla="val 355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72491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Recovery Efficiency: 72.8%   ·   Total Package CAPEX: ₹11,20,000   ·   Total OPEX: ₹14.20/hr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8138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Shell: Estimated recovery contribution 72.8% with Shell &amp; Tube Feed Pre-Cooler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Absorber: Estimated recovery contribution 72.8% with Absorber Packed Column Tower sized for the stated duty.</a:t>
            </a:r>
            <a:endParaRPr lang="en-US" sz="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Lean/Rich: Estimated recovery contribution 72.8% with Lean/Rich Solvent Circulation Pumps sized for the stated duty.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Comparison Matrix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8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Multi-Criteria Technology Comparison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153619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CAPEX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478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Engineering Recommendation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86600" y="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HCRecov Demonstration Plant  ·  HCRecov Engineering Team  ·  Slide 9 / 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594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07592"/>
            <a:ext cx="411480" cy="41148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07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152144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Membrane-based recovery offers the highest net monomer recovery at the stated feed conditions.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31720"/>
            <a:ext cx="411480" cy="4114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31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7627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remains a competitive alternative where a higher-pressure swing structure is acceptable.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3355848"/>
            <a:ext cx="411480" cy="4114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200400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is the most conservative option but carries the highest solvent-handling burden.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33088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33088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·  Advance the membrane-based option for pilot confirmation, with PSA retained as the secondary fallback path.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Feed: 650 kg/hr  ·  1.2 bar(a)  ·  64 °C  ·  5 mol% C3H6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Membrane: 78.5% recovery  |  CAPEX ₹1377.8L  ·  Below 90% minimum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PSA: 76.2% recovery  |  CAPEX ₹1185.7L  ·  Below 90% minimum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72.8% recovery  |  CAPEX ₹935.2L  ·  Below 90% minimum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technology currently meets the 90% recovery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undefined  ·  HCRecov 1.0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1157</Words>
  <Application>Microsoft Office PowerPoint</Application>
  <PresentationFormat>On-screen Show 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HCRecov Industrial Sizing Ledger</dc:title>
  <dc:subject>Hydrocarbon Recovery Technology Assessment</dc:subject>
  <dc:creator>HCRecov Engineering Team</dc:creator>
  <cp:lastModifiedBy>Chirodeep Karmakar</cp:lastModifiedBy>
  <cp:revision>2</cp:revision>
  <dcterms:created xsi:type="dcterms:W3CDTF">2026-06-30T14:01:01Z</dcterms:created>
  <dcterms:modified xsi:type="dcterms:W3CDTF">2026-06-30T14:09:04Z</dcterms:modified>
</cp:coreProperties>
</file>